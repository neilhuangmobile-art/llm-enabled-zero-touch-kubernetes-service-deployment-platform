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0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93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6309360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331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6A34A"/>
                </a:solidFill>
                <a:latin typeface="Microsoft JhengHei"/>
              </a:rPr>
              <a:t>CAPSTONE PROGRESS REPORT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743200"/>
            <a:ext cx="1051560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Microsoft JhengHei"/>
              </a:rPr>
              <a:t>LLM-enabled Zero-Touch</a:t>
            </a:r>
          </a:p>
          <a:p>
            <a:pPr algn="l">
              <a:lnSpc>
                <a:spcPct val="110000"/>
              </a:lnSpc>
            </a:pPr>
            <a:r>
              <a:rPr sz="3800" b="1">
                <a:solidFill>
                  <a:srgbClr val="FFFFFF"/>
                </a:solidFill>
                <a:latin typeface="Microsoft JhengHei"/>
              </a:rPr>
              <a:t>Kubernetes Service Deployment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80644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Microsoft JhengHei"/>
              </a:rPr>
              <a:t>Progress Update — 2026/09/22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Microsoft JhengHei"/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Microsoft JhengHei"/>
              </a:rPr>
              <a:t>本次報告大綱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Microsoft Jheng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70992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Microsoft JhengHei"/>
              </a:rPr>
              <a:t>系統概述與目標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207568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Microsoft JhengHei"/>
              </a:rPr>
              <a:t>這個平台要解決什麼問題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5000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Microsoft JhengHe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236829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Microsoft JhengHei"/>
              </a:rPr>
              <a:t>完整系統架構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734056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Microsoft JhengHei"/>
              </a:rPr>
              <a:t>從自然語言輸入到自動部署與自癒的完整資料流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008376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Microsoft JhengHei"/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3026664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Microsoft JhengHei"/>
              </a:rPr>
              <a:t>已完成的核心基礎（穩定期）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17320" y="3392424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Microsoft JhengHei"/>
              </a:rPr>
              <a:t>多租戶隔離、三代理審查、Healer 自癒、CI/測試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3666744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Microsoft JhengHei"/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68503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Microsoft JhengHei"/>
              </a:rPr>
              <a:t>本週進度重點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4050792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Microsoft JhengHei"/>
              </a:rPr>
              <a:t>模糊語意理解、Google 登入、真實監控、Dashboard、多項修復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325112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Microsoft JhengHei"/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17320" y="4343400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Microsoft JhengHei"/>
              </a:rPr>
              <a:t>團隊分工與整合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709160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Microsoft JhengHei"/>
              </a:rPr>
              <a:t>分支整合方式與各自負責範疇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83480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Microsoft JhengHei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17320" y="5001768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Microsoft JhengHei"/>
              </a:rPr>
              <a:t>測試與品質保證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17320" y="5367528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Microsoft JhengHei"/>
              </a:rPr>
              <a:t>自動化測試、真實瀏覽器驗證、風險審查文件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5641848"/>
            <a:ext cx="822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>
                <a:solidFill>
                  <a:srgbClr val="16A34A"/>
                </a:solidFill>
                <a:latin typeface="Microsoft JhengHei"/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5660136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50" b="1">
                <a:solidFill>
                  <a:srgbClr val="111827"/>
                </a:solidFill>
                <a:latin typeface="Microsoft JhengHei"/>
              </a:rPr>
              <a:t>已知限制與後續規劃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17320" y="6025896"/>
            <a:ext cx="9692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374151"/>
                </a:solidFill>
                <a:latin typeface="Microsoft JhengHei"/>
              </a:rPr>
              <a:t>誠實面對目前的邊界，下一步方向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Microsoft JhengHei"/>
              </a:rPr>
              <a:t>2 / 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Microsoft JhengHei"/>
              </a:rPr>
              <a:t>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Microsoft JhengHei"/>
              </a:rPr>
              <a:t>系統概述與目標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94944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>
                <a:solidFill>
                  <a:srgbClr val="374151"/>
                </a:solidFill>
                <a:latin typeface="Microsoft JhengHei"/>
              </a:rPr>
              <a:t>使用者用自然語言（中文／英文皆可）描述部署需求，系統自動轉譯成 Kubernetes 部署規格，經過多代理安全／成本／效能審查與 dry-run 驗證後，透過 GitOps 部署到叢集，並具備自動監控與自癒能力。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429000"/>
            <a:ext cx="6949440" cy="2743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50" b="0">
                <a:solidFill>
                  <a:srgbClr val="374151"/>
                </a:solidFill>
                <a:latin typeface="Microsoft JhengHei"/>
              </a:rPr>
              <a:t>目標使用者：不熟悉 K8s / Docker / CLI 的一般使用者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50" b="0">
                <a:solidFill>
                  <a:srgbClr val="374151"/>
                </a:solidFill>
                <a:latin typeface="Microsoft JhengHei"/>
              </a:rPr>
              <a:t>核心設計原則：新手絕對友善——不能有靜默失敗、錯誤訊息要講「怎麼辦」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50" b="0">
                <a:solidFill>
                  <a:srgbClr val="374151"/>
                </a:solidFill>
                <a:latin typeface="Microsoft JhengHei"/>
              </a:rPr>
              <a:t>不只是「翻譯層」：具備多層防護（審查 → 驗證 → 版控）跟自動修復能力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Microsoft JhengHei"/>
              </a:rPr>
              <a:t>3 / 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Microsoft Jheng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Microsoft JhengHei"/>
              </a:rPr>
              <a:t>完整系統架構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4846" y="1417320"/>
            <a:ext cx="9682002" cy="5257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Microsoft JhengHei"/>
              </a:rPr>
              <a:t>4 / 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Microsoft JhengHei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Microsoft JhengHei"/>
              </a:rPr>
              <a:t>模組地圖與技術棧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8640" y="1600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709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Microsoft JhengHei"/>
              </a:rPr>
              <a:t>core/ + llama_client.py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057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設定、Model Server、推理入口（翻譯層 → deterministic → RAG few-shot → 3B）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743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2852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Microsoft JhengHei"/>
              </a:rPr>
              <a:t>rag/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00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TF-IDF 知識庫索引，給一般問答與部署範例 few-shot 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886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48640" y="3886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77240" y="3995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Microsoft JhengHei"/>
              </a:rPr>
              <a:t>agents/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security_agent / cost_agent / perf_agent + orchestrator 協調決策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48640" y="5029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5138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Microsoft JhengHei"/>
              </a:rPr>
              <a:t>guardian/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486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YAML 驗證、安全政策、kubectl dry-run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1600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309360" y="1600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537960" y="1709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Microsoft JhengHei"/>
              </a:rPr>
              <a:t>gitops/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057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寫入 Git、版本控管、可回滾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09360" y="2743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309360" y="2743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537960" y="2852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Microsoft JhengHei"/>
              </a:rPr>
              <a:t>healer/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3200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Pod 監控、LLM 根因診斷、自動補救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886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6309360" y="3886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37960" y="3995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Microsoft JhengHei"/>
              </a:rPr>
              <a:t>observability/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4343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Prometheus + Grafana，真實即時用量與告警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309360" y="5029200"/>
            <a:ext cx="5486400" cy="96012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309360" y="5029200"/>
            <a:ext cx="73152" cy="96012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37960" y="5138928"/>
            <a:ext cx="51206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11827"/>
                </a:solidFill>
                <a:latin typeface="Microsoft JhengHei"/>
              </a:rPr>
              <a:t>web_demo.py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5486400"/>
            <a:ext cx="512064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Flask Web Dashboard，現行唯一使用者入口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Microsoft JhengHei"/>
              </a:rPr>
              <a:t>5 / 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Microsoft JhengHei"/>
              </a:rPr>
              <a:t>FOUNDATION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Microsoft JhengHei"/>
              </a:rPr>
              <a:t>已完成的核心基礎（穩定期）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7899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374151"/>
                </a:solidFill>
                <a:latin typeface="Microsoft JhengHei"/>
              </a:rPr>
              <a:t>09/14 起陸續完成，是後續所有新功能的地基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92024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5486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97510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多租戶隔離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9572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每帳號一個真實 K8s namespace，端到端驗證互相看不到彼此資源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92024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09360" y="1920240"/>
            <a:ext cx="5486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197510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三層防護鏈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39572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orchestrator（決策）→ guardian（驗證）→ gitops（版控），任一層擋下就不會部署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33756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48640" y="3337560"/>
            <a:ext cx="5486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39242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Healer 自動自癒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81304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背景執行緒每 30 秒掃描，規則層 + LLM 根因診斷 + 自動補救，非同步不用手動觸發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33756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09360" y="3337560"/>
            <a:ext cx="5486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39242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惡意行為偵測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1304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Gemini 判斷誘導/操縱意圖，累犯自動封鎖帳號並清除其 namespace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475488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48640" y="4754880"/>
            <a:ext cx="5486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31520" y="480974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測試與 CI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23036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213 個 pytest 測試、GitHub Actions 自動跑，含路由層/多租戶隔離回歸測試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4754880"/>
            <a:ext cx="5486400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9CA3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09360" y="4754880"/>
            <a:ext cx="5486400" cy="384048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492240" y="4809744"/>
            <a:ext cx="512064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FFFFFF"/>
                </a:solidFill>
                <a:latin typeface="Microsoft JhengHei"/>
              </a:rPr>
              <a:t>誠實稽核文化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92240" y="5230368"/>
            <a:ext cx="512064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多次主動全系統稽核抓「宣稱有但沒接上」的假象（如寫死的狀態旗標）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Microsoft JhengHei"/>
              </a:rPr>
              <a:t>6 / 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Microsoft JhengHei"/>
              </a:rPr>
              <a:t>本週進度 · 09/16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Microsoft JhengHei"/>
              </a:rPr>
              <a:t>模糊語意理解層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74151"/>
                </a:solidFill>
                <a:latin typeface="Microsoft JhengHei"/>
              </a:rPr>
              <a:t>讓 Chat 能處理「講得不清楚」的輸入，不是只有精確指令才聽得懂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57400"/>
            <a:ext cx="109728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2057400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11827"/>
                </a:solidFill>
                <a:latin typeface="Microsoft JhengHei"/>
              </a:rPr>
              <a:t>① 指代消解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441448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74151"/>
                </a:solidFill>
                <a:latin typeface="Microsoft JhengHei"/>
              </a:rPr>
              <a:t>「把它擴大到 5 個」「剛剛部署的那個」——記住聊天室最近提到的資源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081528"/>
            <a:ext cx="109728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68680" y="3081528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11827"/>
                </a:solidFill>
                <a:latin typeface="Microsoft JhengHei"/>
              </a:rPr>
              <a:t>② 模糊比對資源名稱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465576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74151"/>
                </a:solidFill>
                <a:latin typeface="Microsoft JhengHei"/>
              </a:rPr>
              <a:t>打字錯誤、只講暱稱／類別，用 difflib + 類別偵測抓出最可能的目標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4105656"/>
            <a:ext cx="109728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68680" y="4105656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11827"/>
                </a:solidFill>
                <a:latin typeface="Microsoft JhengHei"/>
              </a:rPr>
              <a:t>③ 部署缺欄位：猜還是問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489704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74151"/>
                </a:solidFill>
                <a:latin typeface="Microsoft JhengHei"/>
              </a:rPr>
              <a:t>image/app_name 完全沒線索時主動反問，不會偷偷套用 nginx:latest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9784"/>
            <a:ext cx="109728" cy="86868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5129784"/>
            <a:ext cx="102412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50" b="1">
                <a:solidFill>
                  <a:srgbClr val="111827"/>
                </a:solidFill>
                <a:latin typeface="Microsoft JhengHei"/>
              </a:rPr>
              <a:t>④ 低信心主動澄清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5513832"/>
            <a:ext cx="102412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0">
                <a:solidFill>
                  <a:srgbClr val="374151"/>
                </a:solidFill>
                <a:latin typeface="Microsoft JhengHei"/>
              </a:rPr>
              <a:t>原本只有破壞性操作有把關，擴大到一般查詢／部署意圖都會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6172200"/>
            <a:ext cx="11064240" cy="502920"/>
          </a:xfrm>
          <a:prstGeom prst="rect">
            <a:avLst/>
          </a:prstGeom>
          <a:solidFill>
            <a:srgbClr val="FEF3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31520" y="6245352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>
                <a:solidFill>
                  <a:srgbClr val="D97706"/>
                </a:solidFill>
                <a:latin typeface="Microsoft JhengHei"/>
              </a:rPr>
              <a:t>真實瀏覽器端對端測試抓到並修好一個真實 bug：完全相符的資源名稱被自己的 Pod 前綴誤判成「有歧義」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Microsoft JhengHei"/>
              </a:rPr>
              <a:t>7 / 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Microsoft JhengHei"/>
              </a:rPr>
              <a:t>本週進度 · 09/16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Microsoft JhengHei"/>
              </a:rPr>
              <a:t>Google 登入（Sign in with Google）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374151"/>
                </a:solidFill>
                <a:latin typeface="Microsoft JhengHei"/>
              </a:rPr>
              <a:t>新增第二種登入方式，跟既有帳密系統共存，不影響任何既有帳號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03120"/>
            <a:ext cx="585216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用專案既有的 requests 套件手動實作 OAuth2 三端點（authorize → token → userinfo），沒有新增依賴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CSRF state 驗證：登入前產生隨機值，callback 時核對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Email 必須已驗證（email_verified）才能登入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絕不自動合併帳號——撞名一律加後綴變新帳號，防止帳號冒用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400" b="0">
                <a:solidFill>
                  <a:srgbClr val="374151"/>
                </a:solidFill>
                <a:latin typeface="Microsoft JhengHei"/>
              </a:rPr>
              <a:t>18 個新測試，涵蓋 state 不符、未驗證、封鎖帳號等安全情境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0" y="2103120"/>
            <a:ext cx="4846320" cy="32918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995160" y="2286000"/>
            <a:ext cx="438912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11827"/>
                </a:solidFill>
                <a:latin typeface="Microsoft JhengHei"/>
              </a:rPr>
              <a:t>安全設計重點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5160" y="2743200"/>
            <a:ext cx="4389120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200" b="1">
                <a:solidFill>
                  <a:srgbClr val="374151"/>
                </a:solidFill>
                <a:latin typeface="Microsoft JhengHei"/>
              </a:rPr>
              <a:t>為什麼不能自動合併帳號？</a:t>
            </a:r>
          </a:p>
          <a:p>
            <a:pPr marL="292608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–"/>
            </a:pPr>
            <a:r>
              <a:rPr sz="1000" b="0">
                <a:solidFill>
                  <a:srgbClr val="374151"/>
                </a:solidFill>
                <a:latin typeface="Microsoft JhengHei"/>
              </a:rPr>
              <a:t>只要知道對方 username／email，就能用自己的
Google 帳號登入拿到對方的 K8s namespace 存取權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200" b="1">
                <a:solidFill>
                  <a:srgbClr val="374151"/>
                </a:solidFill>
                <a:latin typeface="Microsoft JhengHei"/>
              </a:rPr>
              <a:t>查找既有帳號用 google_sub（Google 穩定 ID），
不是用 email 字串比對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Microsoft JhengHei"/>
              </a:rPr>
              <a:t>8 / 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Microsoft JhengHei"/>
              </a:rPr>
              <a:t>本週進度 · 09/15, 09/20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>
                <a:solidFill>
                  <a:srgbClr val="111827"/>
                </a:solidFill>
                <a:latin typeface="Microsoft JhengHei"/>
              </a:rPr>
              <a:t>真實監控堆疊 + 監控台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66928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350" b="1">
                <a:solidFill>
                  <a:srgbClr val="374151"/>
                </a:solidFill>
                <a:latin typeface="Microsoft JhengHei"/>
              </a:rPr>
              <a:t>真的部署 kube-prometheus-stack</a:t>
            </a:r>
          </a:p>
          <a:p>
            <a:pPr marL="292608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–"/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稽核發現 observability/ 從寫進去那天起就是死代碼，整個叢集從沒真的裝過 Prometheus</a:t>
            </a:r>
          </a:p>
          <a:p>
            <a:pPr marL="292608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–"/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修好過程中發現的兩個「宣稱有但沒接上」落差（PrometheusRule label、cAdvisor 過濾條件）</a:t>
            </a:r>
          </a:p>
          <a:p>
            <a:pPr marL="0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●"/>
            </a:pPr>
            <a:r>
              <a:rPr sz="1350" b="1">
                <a:solidFill>
                  <a:srgbClr val="374151"/>
                </a:solidFill>
                <a:latin typeface="Microsoft JhengHei"/>
              </a:rPr>
              <a:t>新增 Dashboard 頁面</a:t>
            </a:r>
          </a:p>
          <a:p>
            <a:pPr marL="292608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–"/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讓使用者部署前就能看到叢集還剩多少空間</a:t>
            </a:r>
          </a:p>
          <a:p>
            <a:pPr marL="292608" indent="-201168" algn="l">
              <a:lnSpc>
                <a:spcPct val="120000"/>
              </a:lnSpc>
              <a:spcAft>
                <a:spcPts val="800"/>
              </a:spcAft>
              <a:buFont typeface="Arial"/>
              <a:buChar char="–"/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採用 Kubecost 的 allocation = max(usage, requests) 概念，比單看 requests 更貼近真實</a:t>
            </a:r>
          </a:p>
        </p:txBody>
      </p:sp>
      <p:sp>
        <p:nvSpPr>
          <p:cNvPr id="7" name="Rectangle 6"/>
          <p:cNvSpPr/>
          <p:nvPr/>
        </p:nvSpPr>
        <p:spPr>
          <a:xfrm>
            <a:off x="6492240" y="1554480"/>
            <a:ext cx="5120640" cy="2286000"/>
          </a:xfrm>
          <a:prstGeom prst="rect">
            <a:avLst/>
          </a:prstGeom>
          <a:solidFill>
            <a:srgbClr val="FDE8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720840" y="169164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DC2626"/>
                </a:solidFill>
                <a:latin typeface="Microsoft JhengHei"/>
              </a:rPr>
              <a:t>過程中抓到的真實 bug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20840" y="2148840"/>
            <a:ext cx="4663440" cy="1554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費用估算重用單一容器的公式，0 個部署時的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總量「0」被 Python 的 or 判成「沒填」，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冒出不存在的月費——部署後費用反而「下降」，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74151"/>
                </a:solidFill>
                <a:latin typeface="Microsoft JhengHei"/>
              </a:rPr>
              <a:t>方向不合理立刻暴露問題。已修正並補迴歸測試。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4023360"/>
            <a:ext cx="5120640" cy="1554480"/>
          </a:xfrm>
          <a:prstGeom prst="rect">
            <a:avLst/>
          </a:prstGeom>
          <a:solidFill>
            <a:srgbClr val="DCFC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20840" y="416052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6A34A"/>
                </a:solidFill>
                <a:latin typeface="Microsoft JhengHei"/>
              </a:rPr>
              <a:t>額外排除的環境問題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4572000"/>
            <a:ext cx="466344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Microsoft JhengHei"/>
              </a:rPr>
              <a:t>本機 Prometheus 一度連不上（Docker Desktop／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Microsoft JhengHei"/>
              </a:rPr>
              <a:t>WSL2 網路卡死），已排查根因並排除，Dashboard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Microsoft JhengHei"/>
              </a:rPr>
              <a:t>現在正確顯示真實用量；連不上時也驗證過會</a:t>
            </a:r>
          </a:p>
          <a:p>
            <a:pPr algn="l">
              <a:lnSpc>
                <a:spcPct val="125000"/>
              </a:lnSpc>
            </a:pPr>
            <a:r>
              <a:rPr sz="1100" b="0">
                <a:solidFill>
                  <a:srgbClr val="374151"/>
                </a:solidFill>
                <a:latin typeface="Microsoft JhengHei"/>
              </a:rPr>
              <a:t>優雅降級回 requests 加總，不會卡住或報錯。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Microsoft JhengHei"/>
              </a:rPr>
              <a:t>9 / 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0584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6A34A"/>
                </a:solidFill>
                <a:latin typeface="Microsoft JhengHei"/>
              </a:rPr>
              <a:t>本週進度 · 09/19-09/20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1792"/>
            <a:ext cx="10972800" cy="4540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lang="zh-TW" altLang="en-US" sz="2800" b="1" dirty="0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實際發現問題</a:t>
            </a:r>
            <a:r>
              <a:rPr sz="2800" b="1" dirty="0" err="1">
                <a:solidFill>
                  <a:srgbClr val="111827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的修復與體驗優化</a:t>
            </a:r>
            <a:endParaRPr sz="2800" b="1" dirty="0">
              <a:solidFill>
                <a:srgbClr val="111827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48640" y="1298448"/>
            <a:ext cx="1005840" cy="38100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3291840" cy="4572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673352"/>
            <a:ext cx="3017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回報的問題</a:t>
            </a:r>
          </a:p>
        </p:txBody>
      </p:sp>
      <p:sp>
        <p:nvSpPr>
          <p:cNvPr id="8" name="Rectangle 7"/>
          <p:cNvSpPr/>
          <p:nvPr/>
        </p:nvSpPr>
        <p:spPr>
          <a:xfrm>
            <a:off x="3886200" y="1600200"/>
            <a:ext cx="4206240" cy="4572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023360" y="1673352"/>
            <a:ext cx="39319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根本原因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1600200"/>
            <a:ext cx="3520440" cy="457200"/>
          </a:xfrm>
          <a:prstGeom prst="rect">
            <a:avLst/>
          </a:prstGeom>
          <a:solidFill>
            <a:srgbClr val="1118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673352"/>
            <a:ext cx="329184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FFFFFF"/>
                </a:solidFill>
                <a:latin typeface="Microsoft JhengHei"/>
              </a:rPr>
              <a:t>處理結果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057400"/>
            <a:ext cx="32918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886200" y="2057400"/>
            <a:ext cx="42062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8138160" y="2057400"/>
            <a:ext cx="35204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" y="21488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827"/>
                </a:solidFill>
                <a:latin typeface="Microsoft JhengHei"/>
              </a:rPr>
              <a:t>預設提示卡片點了沒反應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95928" y="214884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74151"/>
                </a:solidFill>
                <a:latin typeface="Microsoft JhengHei"/>
              </a:rPr>
              <a:t>onclick 屬性雙引號互相截斷（純字串跳脫疏忽）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214884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6A34A"/>
                </a:solidFill>
                <a:latin typeface="Microsoft JhengHei"/>
              </a:rPr>
              <a:t>已修復＋Playwright 驗證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743200"/>
            <a:ext cx="32918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3886200" y="27432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138160" y="2743200"/>
            <a:ext cx="3520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8368" y="28346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827"/>
                </a:solidFill>
                <a:latin typeface="Microsoft JhengHei"/>
              </a:rPr>
              <a:t>繁中偶爾夾雜簡體字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95928" y="283464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74151"/>
                </a:solidFill>
                <a:latin typeface="Microsoft JhengHei"/>
              </a:rPr>
              <a:t>opencc 套件列在 requirements.txt 但環境沒真的裝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83464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6A34A"/>
                </a:solidFill>
                <a:latin typeface="Microsoft JhengHei"/>
              </a:rPr>
              <a:t>已修復＋逐字元掃描驗證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429000"/>
            <a:ext cx="32918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886200" y="3429000"/>
            <a:ext cx="42062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8138160" y="3429000"/>
            <a:ext cx="35204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58368" y="35204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827"/>
                </a:solidFill>
                <a:latin typeface="Microsoft JhengHei"/>
              </a:rPr>
              <a:t>Markdown 語法沒有排版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95928" y="352044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74151"/>
                </a:solidFill>
                <a:latin typeface="Microsoft JhengHei"/>
              </a:rPr>
              <a:t>AI 回覆直接塞進 innerHTML，無轉換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352044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6A34A"/>
                </a:solidFill>
                <a:latin typeface="Microsoft JhengHei"/>
              </a:rPr>
              <a:t>新增輕量 renderMarkdown()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114800"/>
            <a:ext cx="32918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3886200" y="4114800"/>
            <a:ext cx="42062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138160" y="4114800"/>
            <a:ext cx="3520440" cy="6858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58368" y="42062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827"/>
                </a:solidFill>
                <a:latin typeface="Microsoft JhengHei"/>
              </a:rPr>
              <a:t>載入動畫不夠和諧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995928" y="420624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74151"/>
                </a:solidFill>
                <a:latin typeface="Microsoft JhengHei"/>
              </a:rPr>
              <a:t>沿用參考圖風格，改成放射狀刻度旋轉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7888" y="420624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6A34A"/>
                </a:solidFill>
                <a:latin typeface="Microsoft JhengHei"/>
              </a:rPr>
              <a:t>全站統一套用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00600"/>
            <a:ext cx="32918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3886200" y="4800600"/>
            <a:ext cx="42062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8138160" y="4800600"/>
            <a:ext cx="3520440" cy="68580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8" y="4892040"/>
            <a:ext cx="31089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>
                <a:solidFill>
                  <a:srgbClr val="111827"/>
                </a:solidFill>
                <a:latin typeface="Microsoft JhengHei"/>
              </a:rPr>
              <a:t>中英文切換 Dashboard 沒反應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95928" y="4892040"/>
            <a:ext cx="402336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>
                <a:solidFill>
                  <a:srgbClr val="374151"/>
                </a:solidFill>
                <a:latin typeface="Microsoft JhengHei"/>
              </a:rPr>
              <a:t>切換鈕只存在 Chat 頁自己的頂部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47888" y="4892040"/>
            <a:ext cx="329184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1">
                <a:solidFill>
                  <a:srgbClr val="16A34A"/>
                </a:solidFill>
                <a:latin typeface="Microsoft JhengHei"/>
              </a:rPr>
              <a:t>移到全站共用狀態列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247120" y="6473952"/>
            <a:ext cx="7315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100" b="0">
                <a:solidFill>
                  <a:srgbClr val="9CA3AF"/>
                </a:solidFill>
                <a:latin typeface="Microsoft JhengHei"/>
              </a:rPr>
              <a:t>10 / 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84048"/>
            <a:ext cx="12191695" cy="54864"/>
          </a:xfrm>
          <a:prstGeom prst="rect">
            <a:avLst/>
          </a:prstGeom>
          <a:solidFill>
            <a:srgbClr val="16A3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65176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4400" b="1">
                <a:solidFill>
                  <a:srgbClr val="FFFFFF"/>
                </a:solidFill>
                <a:latin typeface="Microsoft JhengHei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93776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>
                <a:solidFill>
                  <a:srgbClr val="9CA3AF"/>
                </a:solidFill>
                <a:latin typeface="Microsoft JhengHei"/>
              </a:rPr>
              <a:t>LLM-enabled Zero-Touch Kubernetes Service Deployment Platform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25780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6B7280"/>
                </a:solidFill>
                <a:latin typeface="Microsoft JhengHei"/>
              </a:rPr>
              <a:t>完整紀錄見 CHANGELOG.md、docs/security_review.md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648</Words>
  <Application>Microsoft Office PowerPoint</Application>
  <PresentationFormat>寬螢幕</PresentationFormat>
  <Paragraphs>142</Paragraphs>
  <Slides>11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6" baseType="lpstr">
      <vt:lpstr>Microsoft JhengHei</vt:lpstr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柏諭 宋</cp:lastModifiedBy>
  <cp:revision>4</cp:revision>
  <dcterms:created xsi:type="dcterms:W3CDTF">2013-01-27T09:14:16Z</dcterms:created>
  <dcterms:modified xsi:type="dcterms:W3CDTF">2026-09-20T10:31:07Z</dcterms:modified>
  <cp:category/>
</cp:coreProperties>
</file>